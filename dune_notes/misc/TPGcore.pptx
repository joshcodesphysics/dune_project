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92" r:id="rId2"/>
    <p:sldId id="287" r:id="rId3"/>
    <p:sldId id="284" r:id="rId4"/>
    <p:sldId id="300" r:id="rId5"/>
    <p:sldId id="302" r:id="rId6"/>
    <p:sldId id="309" r:id="rId7"/>
    <p:sldId id="291" r:id="rId8"/>
    <p:sldId id="288" r:id="rId9"/>
    <p:sldId id="339" r:id="rId10"/>
    <p:sldId id="290" r:id="rId11"/>
    <p:sldId id="29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588"/>
  </p:normalViewPr>
  <p:slideViewPr>
    <p:cSldViewPr snapToGrid="0" snapToObjects="1" showGuides="1">
      <p:cViewPr varScale="1">
        <p:scale>
          <a:sx n="101" d="100"/>
          <a:sy n="101" d="100"/>
        </p:scale>
        <p:origin x="36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B5109-4B13-204E-827F-1968CE726B31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D8CC1-E698-914D-A9C3-FE2608D29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A82294-BF3E-954A-9E49-35D72A5F00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467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sz="4400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5368" y="462518"/>
            <a:ext cx="10972800" cy="647102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algn="l">
              <a:defRPr sz="40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1"/>
          </p:nvPr>
        </p:nvSpPr>
        <p:spPr>
          <a:xfrm>
            <a:off x="605373" y="1207770"/>
            <a:ext cx="10977028" cy="5070302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09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09600" y="462518"/>
            <a:ext cx="10972800" cy="647102"/>
          </a:xfrm>
          <a:prstGeom prst="rect">
            <a:avLst/>
          </a:prstGeom>
        </p:spPr>
        <p:txBody>
          <a:bodyPr vert="horz" lIns="0" tIns="0" rIns="0" bIns="0"/>
          <a:lstStyle>
            <a:lvl1pPr algn="l">
              <a:defRPr sz="44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1"/>
          </p:nvPr>
        </p:nvSpPr>
        <p:spPr>
          <a:xfrm>
            <a:off x="605368" y="1207770"/>
            <a:ext cx="5321000" cy="503162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marL="256032" marR="0" lvl="0" indent="-265176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2"/>
          </p:nvPr>
        </p:nvSpPr>
        <p:spPr>
          <a:xfrm>
            <a:off x="6261400" y="1215721"/>
            <a:ext cx="5321000" cy="503162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724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5521483"/>
            <a:ext cx="5338140" cy="73751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600" b="0" i="0" baseline="0">
                <a:solidFill>
                  <a:srgbClr val="E95125"/>
                </a:solidFill>
                <a:latin typeface="Helvetic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6244261" y="5521483"/>
            <a:ext cx="5338140" cy="73751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600" b="0" i="0" baseline="0">
                <a:solidFill>
                  <a:srgbClr val="E95125"/>
                </a:solidFill>
                <a:latin typeface="Helvetic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09600" y="462518"/>
            <a:ext cx="10972800" cy="647102"/>
          </a:xfrm>
          <a:prstGeom prst="rect">
            <a:avLst/>
          </a:prstGeom>
        </p:spPr>
        <p:txBody>
          <a:bodyPr vert="horz" lIns="0" tIns="0" rIns="0" bIns="0"/>
          <a:lstStyle>
            <a:lvl1pPr algn="l">
              <a:defRPr sz="44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626745" y="1206941"/>
            <a:ext cx="5321000" cy="418011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4"/>
          </p:nvPr>
        </p:nvSpPr>
        <p:spPr>
          <a:xfrm>
            <a:off x="6261400" y="1206941"/>
            <a:ext cx="5321000" cy="418011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91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609600" y="1238251"/>
            <a:ext cx="10972800" cy="5009097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>
                <a:solidFill>
                  <a:srgbClr val="3C5A77"/>
                </a:solidFill>
                <a:latin typeface="Helvetica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09600" y="462518"/>
            <a:ext cx="10972800" cy="647102"/>
          </a:xfrm>
          <a:prstGeom prst="rect">
            <a:avLst/>
          </a:prstGeom>
        </p:spPr>
        <p:txBody>
          <a:bodyPr vert="horz" lIns="0" tIns="0" rIns="0" bIns="0"/>
          <a:lstStyle>
            <a:lvl1pPr algn="l">
              <a:defRPr sz="44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1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237106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>
                <a:solidFill>
                  <a:srgbClr val="3C5A77"/>
                </a:solidFill>
                <a:latin typeface="Helvetica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166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1"/>
          </p:nvPr>
        </p:nvSpPr>
        <p:spPr>
          <a:xfrm>
            <a:off x="609605" y="5340612"/>
            <a:ext cx="4023360" cy="91533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600" b="0" i="0" baseline="0">
                <a:solidFill>
                  <a:srgbClr val="E95125"/>
                </a:solidFill>
                <a:latin typeface="Helvetic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4955118" y="1208366"/>
            <a:ext cx="6613023" cy="5047578"/>
          </a:xfrm>
          <a:prstGeom prst="rect">
            <a:avLst/>
          </a:prstGeom>
        </p:spPr>
        <p:txBody>
          <a:bodyPr vert="horz" lIns="0" rIns="0"/>
          <a:lstStyle>
            <a:lvl1pPr marL="0" indent="0">
              <a:buFontTx/>
              <a:buNone/>
              <a:defRPr>
                <a:solidFill>
                  <a:srgbClr val="3C5A77"/>
                </a:solidFill>
                <a:latin typeface="Helvetica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62518"/>
            <a:ext cx="10972800" cy="647102"/>
          </a:xfrm>
          <a:prstGeom prst="rect">
            <a:avLst/>
          </a:prstGeom>
        </p:spPr>
        <p:txBody>
          <a:bodyPr vert="horz" lIns="0" tIns="0" rIns="0" bIns="0"/>
          <a:lstStyle>
            <a:lvl1pPr algn="l">
              <a:defRPr sz="44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6"/>
          </p:nvPr>
        </p:nvSpPr>
        <p:spPr>
          <a:xfrm>
            <a:off x="626746" y="1206941"/>
            <a:ext cx="4006220" cy="404697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0121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5367" y="1227137"/>
            <a:ext cx="10972800" cy="448765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200">
                <a:solidFill>
                  <a:srgbClr val="3C5A77"/>
                </a:solidFill>
                <a:latin typeface="Helvetica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1"/>
          </p:nvPr>
        </p:nvSpPr>
        <p:spPr>
          <a:xfrm>
            <a:off x="609605" y="5839748"/>
            <a:ext cx="10972795" cy="4397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600" b="0" i="0" baseline="0">
                <a:solidFill>
                  <a:srgbClr val="E95125"/>
                </a:solidFill>
                <a:latin typeface="Helvetic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458988"/>
            <a:ext cx="10972800" cy="701902"/>
          </a:xfrm>
          <a:prstGeom prst="rect">
            <a:avLst/>
          </a:prstGeom>
        </p:spPr>
        <p:txBody>
          <a:bodyPr vert="horz" lIns="0" tIns="0" rIns="0" bIns="0"/>
          <a:lstStyle>
            <a:lvl1pPr algn="l">
              <a:defRPr sz="44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0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sz="3300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5368" y="462518"/>
            <a:ext cx="10972800" cy="647102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algn="l">
              <a:defRPr sz="30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1"/>
          </p:nvPr>
        </p:nvSpPr>
        <p:spPr>
          <a:xfrm>
            <a:off x="605374" y="1207770"/>
            <a:ext cx="10977028" cy="5070302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192024" indent="-198882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/>
              <a:buChar char="•"/>
              <a:defRPr sz="1650" b="0" i="0">
                <a:solidFill>
                  <a:srgbClr val="3C5A77"/>
                </a:solidFill>
                <a:latin typeface="Helvetica"/>
              </a:defRPr>
            </a:lvl1pPr>
            <a:lvl2pPr marL="406004" indent="-200025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90000"/>
              <a:buFont typeface="Lucida Grande"/>
              <a:buChar char="-"/>
              <a:defRPr sz="1500" b="0" i="0">
                <a:solidFill>
                  <a:srgbClr val="3C5A77"/>
                </a:solidFill>
                <a:latin typeface="Helvetica"/>
              </a:defRPr>
            </a:lvl2pPr>
            <a:lvl3pPr marL="673894" indent="-204788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8000"/>
              <a:buFont typeface="Arial"/>
              <a:buChar char="•"/>
              <a:defRPr sz="1350" b="0" i="0">
                <a:solidFill>
                  <a:srgbClr val="3C5A77"/>
                </a:solidFill>
                <a:latin typeface="Helvetica"/>
              </a:defRPr>
            </a:lvl3pPr>
            <a:lvl4pPr marL="873919" indent="-200025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90000"/>
              <a:buFont typeface="Lucida Grande"/>
              <a:buChar char="-"/>
              <a:defRPr sz="1200" b="0" i="0">
                <a:solidFill>
                  <a:srgbClr val="3C5A77"/>
                </a:solidFill>
                <a:latin typeface="Helvetica"/>
              </a:defRPr>
            </a:lvl4pPr>
            <a:lvl5pPr marL="1073944" indent="-200025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8000"/>
              <a:buFont typeface="Arial"/>
              <a:buChar char="•"/>
              <a:defRPr sz="105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4" y="6549551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9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6" y="6549551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9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51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9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729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sz="3300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5368" y="462518"/>
            <a:ext cx="10972800" cy="647102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algn="l">
              <a:defRPr sz="30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1"/>
          </p:nvPr>
        </p:nvSpPr>
        <p:spPr>
          <a:xfrm>
            <a:off x="605374" y="1207770"/>
            <a:ext cx="10977028" cy="5070302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192024" indent="-198882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/>
              <a:buChar char="•"/>
              <a:defRPr sz="1650" b="0" i="0">
                <a:solidFill>
                  <a:srgbClr val="3C5A77"/>
                </a:solidFill>
                <a:latin typeface="Helvetica"/>
              </a:defRPr>
            </a:lvl1pPr>
            <a:lvl2pPr marL="406004" indent="-200025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90000"/>
              <a:buFont typeface="Lucida Grande"/>
              <a:buChar char="-"/>
              <a:defRPr sz="1500" b="0" i="0">
                <a:solidFill>
                  <a:srgbClr val="3C5A77"/>
                </a:solidFill>
                <a:latin typeface="Helvetica"/>
              </a:defRPr>
            </a:lvl2pPr>
            <a:lvl3pPr marL="673894" indent="-204788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8000"/>
              <a:buFont typeface="Arial"/>
              <a:buChar char="•"/>
              <a:defRPr sz="1350" b="0" i="0">
                <a:solidFill>
                  <a:srgbClr val="3C5A77"/>
                </a:solidFill>
                <a:latin typeface="Helvetica"/>
              </a:defRPr>
            </a:lvl3pPr>
            <a:lvl4pPr marL="873919" indent="-200025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90000"/>
              <a:buFont typeface="Lucida Grande"/>
              <a:buChar char="-"/>
              <a:defRPr sz="1200" b="0" i="0">
                <a:solidFill>
                  <a:srgbClr val="3C5A77"/>
                </a:solidFill>
                <a:latin typeface="Helvetica"/>
              </a:defRPr>
            </a:lvl4pPr>
            <a:lvl5pPr marL="1073944" indent="-200025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8000"/>
              <a:buFont typeface="Arial"/>
              <a:buChar char="•"/>
              <a:defRPr sz="105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4" y="6549551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9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6" y="6549551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9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51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9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91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3" y="6549548"/>
            <a:ext cx="6523352" cy="170720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pPr>
              <a:defRPr/>
            </a:pPr>
            <a:fld id="{0C39C72E-2A13-EB4D-AD45-6D4E6ACAED8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6357635"/>
            <a:ext cx="10972800" cy="0"/>
          </a:xfrm>
          <a:prstGeom prst="line">
            <a:avLst/>
          </a:prstGeom>
          <a:ln>
            <a:solidFill>
              <a:srgbClr val="E951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1567" y="6489520"/>
            <a:ext cx="749299" cy="237098"/>
          </a:xfrm>
          <a:prstGeom prst="rect">
            <a:avLst/>
          </a:prstGeom>
        </p:spPr>
      </p:pic>
      <p:pic>
        <p:nvPicPr>
          <p:cNvPr id="9" name="Picture 8" descr="A picture containing knife&#10;&#10;Description automatically generated">
            <a:extLst>
              <a:ext uri="{FF2B5EF4-FFF2-40B4-BE49-F238E27FC236}">
                <a16:creationId xmlns:a16="http://schemas.microsoft.com/office/drawing/2014/main" id="{BA20B83F-89B8-0B42-A03D-5A28CE258A8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430587" y="6399185"/>
            <a:ext cx="2371335" cy="41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2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/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Geneva" charset="0"/>
          <a:cs typeface="Geneva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Geneva" charset="0"/>
          <a:cs typeface="Geneva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Geneva" charset="0"/>
          <a:cs typeface="Geneva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Geneva" charset="0"/>
          <a:cs typeface="Geneva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Geneva" charset="0"/>
          <a:cs typeface="Geneva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Geneva" charset="0"/>
          <a:cs typeface="Geneva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Geneva" charset="0"/>
          <a:cs typeface="Geneva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Geneva" charset="0"/>
          <a:cs typeface="Geneva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Geneva" charset="0"/>
          <a:cs typeface="Geneva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Geneva" charset="0"/>
          <a:cs typeface="Geneva" charset="0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Geneva" charset="0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Geneva" charset="0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Geneva" charset="0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Geneva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E425-B22D-CD4F-A09C-8865DBE9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026" y="2123703"/>
            <a:ext cx="8229600" cy="647102"/>
          </a:xfrm>
        </p:spPr>
        <p:txBody>
          <a:bodyPr>
            <a:noAutofit/>
          </a:bodyPr>
          <a:lstStyle/>
          <a:p>
            <a:r>
              <a:rPr lang="en-US" sz="2800" dirty="0"/>
              <a:t>Processing framework &amp; </a:t>
            </a:r>
            <a:br>
              <a:rPr lang="en-US" sz="2800" dirty="0"/>
            </a:br>
            <a:r>
              <a:rPr lang="en-US" sz="2800" dirty="0"/>
              <a:t>Hit Finder algorithm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E145-5478-7842-BD25-198D6660FD9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2035-A896-B545-A677-94C9260AC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BAAED-266F-3248-A845-AA42855B0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1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5FDC18-3B2B-CC40-A124-12BBE407A8F8}"/>
              </a:ext>
            </a:extLst>
          </p:cNvPr>
          <p:cNvCxnSpPr>
            <a:cxnSpLocks/>
          </p:cNvCxnSpPr>
          <p:nvPr/>
        </p:nvCxnSpPr>
        <p:spPr>
          <a:xfrm>
            <a:off x="1978026" y="2997982"/>
            <a:ext cx="5773070" cy="0"/>
          </a:xfrm>
          <a:prstGeom prst="line">
            <a:avLst/>
          </a:prstGeom>
          <a:ln w="38100">
            <a:gradFill flip="none" rotWithShape="1">
              <a:gsLst>
                <a:gs pos="37000">
                  <a:srgbClr val="D95318"/>
                </a:gs>
                <a:gs pos="15000">
                  <a:srgbClr val="FB4E28"/>
                </a:gs>
                <a:gs pos="0">
                  <a:srgbClr val="FF0000"/>
                </a:gs>
                <a:gs pos="68000">
                  <a:schemeClr val="accent6">
                    <a:lumMod val="95000"/>
                    <a:lumOff val="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172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E425-B22D-CD4F-A09C-8865DBE9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451C-18B6-0D4D-8E10-28A74A387BA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10 </a:t>
            </a:r>
            <a:r>
              <a:rPr lang="en-US" sz="1800" dirty="0" err="1"/>
              <a:t>fibres</a:t>
            </a:r>
            <a:r>
              <a:rPr lang="en-US" sz="1800" dirty="0"/>
              <a:t> per APA @9.6 Gbps</a:t>
            </a:r>
          </a:p>
          <a:p>
            <a:pPr lvl="1"/>
            <a:r>
              <a:rPr lang="en-US" sz="1600" dirty="0"/>
              <a:t>12-bit ADC samples @2MSamples/s</a:t>
            </a:r>
          </a:p>
          <a:p>
            <a:pPr lvl="1"/>
            <a:r>
              <a:rPr lang="en-US" sz="1600" dirty="0"/>
              <a:t>Effectively 10 independent data streams</a:t>
            </a:r>
            <a:endParaRPr lang="en-US" sz="1200" dirty="0"/>
          </a:p>
          <a:p>
            <a:pPr lvl="4"/>
            <a:endParaRPr lang="en-US" sz="1000" dirty="0"/>
          </a:p>
          <a:p>
            <a:r>
              <a:rPr lang="en-US" sz="1800" dirty="0"/>
              <a:t>Each </a:t>
            </a:r>
            <a:r>
              <a:rPr lang="en-US" sz="1800" dirty="0" err="1"/>
              <a:t>fibre</a:t>
            </a:r>
            <a:r>
              <a:rPr lang="en-US" sz="1800" dirty="0"/>
              <a:t> corresponds to 256 wires</a:t>
            </a:r>
          </a:p>
          <a:p>
            <a:pPr lvl="1"/>
            <a:r>
              <a:rPr lang="en-US" sz="1600" dirty="0"/>
              <a:t>Induction &amp; collection wires on </a:t>
            </a:r>
            <a:br>
              <a:rPr lang="en-US" sz="1600" dirty="0"/>
            </a:br>
            <a:r>
              <a:rPr lang="en-US" sz="1600" dirty="0"/>
              <a:t>the same </a:t>
            </a:r>
            <a:r>
              <a:rPr lang="en-US" sz="1600" dirty="0" err="1"/>
              <a:t>fibre</a:t>
            </a:r>
            <a:endParaRPr lang="en-US" sz="1600" dirty="0"/>
          </a:p>
          <a:p>
            <a:pPr lvl="4"/>
            <a:endParaRPr lang="en-US" sz="1000" dirty="0"/>
          </a:p>
          <a:p>
            <a:r>
              <a:rPr lang="en-US" sz="1800" dirty="0"/>
              <a:t>10 “Hit Finder” processors operating </a:t>
            </a:r>
            <a:br>
              <a:rPr lang="en-US" sz="1800" dirty="0"/>
            </a:br>
            <a:r>
              <a:rPr lang="en-US" sz="1800" dirty="0"/>
              <a:t>in parallel (1 per </a:t>
            </a:r>
            <a:r>
              <a:rPr lang="en-US" sz="1800" dirty="0" err="1"/>
              <a:t>fibre</a:t>
            </a:r>
            <a:r>
              <a:rPr lang="en-US" sz="1800" dirty="0"/>
              <a:t>) @250MHz</a:t>
            </a:r>
          </a:p>
          <a:p>
            <a:pPr lvl="4"/>
            <a:endParaRPr lang="en-US" sz="1000" dirty="0"/>
          </a:p>
          <a:p>
            <a:r>
              <a:rPr lang="en-US" sz="1800" dirty="0"/>
              <a:t>Each Hit Finder produces hits also by </a:t>
            </a:r>
            <a:br>
              <a:rPr lang="en-US" sz="1800" dirty="0"/>
            </a:br>
            <a:r>
              <a:rPr lang="en-US" sz="1800" dirty="0"/>
              <a:t>processing ADC values in parallel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E145-5478-7842-BD25-198D6660FD9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2035-A896-B545-A677-94C9260AC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BAAED-266F-3248-A845-AA42855B0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7F10BC-FF80-4248-9E05-79590A89E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06" y="2767694"/>
            <a:ext cx="3925721" cy="342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91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487F9546-321B-4118-9BDA-F57043AA0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026" y="462518"/>
            <a:ext cx="8229600" cy="647102"/>
          </a:xfrm>
        </p:spPr>
        <p:txBody>
          <a:bodyPr>
            <a:normAutofit/>
          </a:bodyPr>
          <a:lstStyle/>
          <a:p>
            <a:r>
              <a:rPr lang="en-US" sz="3200" dirty="0"/>
              <a:t>Hit Finder Firmware Architecture</a:t>
            </a:r>
          </a:p>
        </p:txBody>
      </p:sp>
      <p:pic>
        <p:nvPicPr>
          <p:cNvPr id="8" name="Picture Placeholder 7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8EC66B09-8770-094A-90E4-E0D9448570E1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1978030" y="1715602"/>
            <a:ext cx="8232771" cy="4054638"/>
          </a:xfrm>
          <a:prstGeom prst="rect">
            <a:avLst/>
          </a:prstGeom>
          <a:noFill/>
        </p:spPr>
      </p:pic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1F59781E-990B-4E06-92F2-FF84B983C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03220" y="6549549"/>
            <a:ext cx="998567" cy="158697"/>
          </a:xfrm>
        </p:spPr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E77C1-50D9-C24D-9E5C-981D7A32A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1786" y="6549549"/>
            <a:ext cx="4349311" cy="158697"/>
          </a:xfrm>
        </p:spPr>
        <p:txBody>
          <a:bodyPr anchor="b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100"/>
              <a:t>Kostas Manolopoulos | Upstream DAQ Firmware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F9E48-946A-B04A-8F70-083DEE823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78026" y="6549549"/>
            <a:ext cx="425194" cy="158697"/>
          </a:xfrm>
        </p:spPr>
        <p:txBody>
          <a:bodyPr anchor="b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  <a:defRPr/>
            </a:pPr>
            <a:fld id="{0C39C72E-2A13-EB4D-AD45-6D4E6ACAED8D}" type="slidenum">
              <a:rPr lang="en-US" sz="1100"/>
              <a:pPr defTabSz="457200"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2154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E425-B22D-CD4F-A09C-8865DBE9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451C-18B6-0D4D-8E10-28A74A387BA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sz="1800" dirty="0"/>
              <a:t>Consists of 3 major blocks: </a:t>
            </a:r>
            <a:r>
              <a:rPr lang="en-US" sz="1800" b="1" dirty="0"/>
              <a:t>Data Reception, Data Storage </a:t>
            </a:r>
            <a:r>
              <a:rPr lang="en-US" sz="1800" dirty="0"/>
              <a:t>and </a:t>
            </a:r>
            <a:r>
              <a:rPr lang="en-US" sz="1800" b="1" dirty="0"/>
              <a:t>Unpacker</a:t>
            </a:r>
            <a:r>
              <a:rPr lang="en-US" sz="1800" dirty="0"/>
              <a:t> </a:t>
            </a:r>
          </a:p>
          <a:p>
            <a:pPr lvl="4"/>
            <a:endParaRPr lang="en-US" sz="100" dirty="0"/>
          </a:p>
          <a:p>
            <a:r>
              <a:rPr lang="en-US" sz="1800" b="1" dirty="0"/>
              <a:t>Data Router </a:t>
            </a:r>
            <a:r>
              <a:rPr lang="en-US" sz="1800" dirty="0"/>
              <a:t>turns WIB packets (multiple channels, single time-tick) to processing packets (single channel, multiple time-ticks)</a:t>
            </a:r>
          </a:p>
          <a:p>
            <a:pPr lvl="1"/>
            <a:r>
              <a:rPr lang="en-US" sz="1600" dirty="0"/>
              <a:t>Data arrives in packets containing all channels for a single time-tick</a:t>
            </a:r>
          </a:p>
          <a:p>
            <a:pPr lvl="1"/>
            <a:r>
              <a:rPr lang="en-US" sz="1600" dirty="0"/>
              <a:t>Rearrange into packets with multiple time ticks for a single channel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E145-5478-7842-BD25-198D6660FD9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2035-A896-B545-A677-94C9260AC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BAAED-266F-3248-A845-AA42855B0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4</a:t>
            </a:fld>
            <a:endParaRPr lang="en-US" dirty="0"/>
          </a:p>
        </p:txBody>
      </p:sp>
      <p:sp>
        <p:nvSpPr>
          <p:cNvPr id="18" name="Bent Up Arrow 17">
            <a:extLst>
              <a:ext uri="{FF2B5EF4-FFF2-40B4-BE49-F238E27FC236}">
                <a16:creationId xmlns:a16="http://schemas.microsoft.com/office/drawing/2014/main" id="{416EBFC8-A01F-D844-8AB4-4798CE2B48FE}"/>
              </a:ext>
            </a:extLst>
          </p:cNvPr>
          <p:cNvSpPr/>
          <p:nvPr/>
        </p:nvSpPr>
        <p:spPr>
          <a:xfrm rot="5400000">
            <a:off x="4391602" y="4578468"/>
            <a:ext cx="765912" cy="1616883"/>
          </a:xfrm>
          <a:prstGeom prst="bentUpArrow">
            <a:avLst>
              <a:gd name="adj1" fmla="val 17787"/>
              <a:gd name="adj2" fmla="val 23401"/>
              <a:gd name="adj3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  <a:latin typeface="Arial"/>
            </a:endParaRP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ADCA65D6-F9A8-1A44-8024-AFD56BB67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62" y="3243594"/>
            <a:ext cx="4367426" cy="1834487"/>
          </a:xfrm>
          <a:prstGeom prst="rect">
            <a:avLst/>
          </a:prstGeom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370B4534-9F02-2746-BF93-E3B26BCFE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404" y="4579324"/>
            <a:ext cx="4347483" cy="183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8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85E7D-202D-D947-9733-97A17948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D7745-657C-394F-83BF-A3B75FBF3F4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Data Reception block </a:t>
            </a:r>
            <a:r>
              <a:rPr lang="en-GB" sz="1800" dirty="0"/>
              <a:t>receives data from the GBTs and converts incoming packets from 32-bit WIB to Nx16-bit (N=4) format </a:t>
            </a:r>
          </a:p>
          <a:p>
            <a:pPr lvl="1"/>
            <a:r>
              <a:rPr lang="en-GB" sz="1600" dirty="0"/>
              <a:t>Converted packet written to a circular buffer (</a:t>
            </a:r>
            <a:r>
              <a:rPr lang="en-GB" sz="1600" b="1" dirty="0"/>
              <a:t>Data Storage</a:t>
            </a:r>
            <a:r>
              <a:rPr lang="en-GB" sz="1600" dirty="0"/>
              <a:t> - </a:t>
            </a:r>
            <a:r>
              <a:rPr lang="en-GB" sz="1600" dirty="0" err="1"/>
              <a:t>dpRAM</a:t>
            </a:r>
            <a:r>
              <a:rPr lang="en-GB" sz="1600" dirty="0"/>
              <a:t> block implementation) </a:t>
            </a:r>
          </a:p>
          <a:p>
            <a:pPr lvl="1"/>
            <a:r>
              <a:rPr lang="en-GB" sz="1600" dirty="0"/>
              <a:t>Recognizes &amp; exploits repeating patterns in incoming data, allowing smarter buffering of smaller parts of the frame</a:t>
            </a:r>
          </a:p>
          <a:p>
            <a:pPr lvl="4"/>
            <a:endParaRPr lang="en-GB" sz="600" dirty="0"/>
          </a:p>
          <a:p>
            <a:r>
              <a:rPr lang="en-GB" sz="1800" b="1" dirty="0"/>
              <a:t>Unpacker: </a:t>
            </a:r>
            <a:r>
              <a:rPr lang="en-GB" sz="1800" dirty="0"/>
              <a:t>unpacks channel data from Data Storage (64-bit </a:t>
            </a:r>
            <a:r>
              <a:rPr lang="en-GB" sz="1800" dirty="0" err="1"/>
              <a:t>dpRAM</a:t>
            </a:r>
            <a:r>
              <a:rPr lang="en-GB" sz="1800" dirty="0"/>
              <a:t>), repacks them N=4 channels at a time, and sends the packets to the TPG blocks over axi4s bus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8315-9BC1-F44A-97F4-8CA153D7C41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11B2D-C972-D041-B46A-9092D57E8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A1F62-C9A3-354A-B83F-0D73F2FB9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5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09B8E0-53A9-3B43-8001-FB292CFD15EB}"/>
              </a:ext>
            </a:extLst>
          </p:cNvPr>
          <p:cNvGrpSpPr/>
          <p:nvPr/>
        </p:nvGrpSpPr>
        <p:grpSpPr>
          <a:xfrm>
            <a:off x="3196414" y="4638856"/>
            <a:ext cx="5953682" cy="1694896"/>
            <a:chOff x="1745566" y="4874527"/>
            <a:chExt cx="5674360" cy="1428945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7179AD9D-1F34-234F-891E-E8F68A0E54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5566" y="4874527"/>
              <a:ext cx="5674360" cy="1428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FA8778-560F-5841-8577-2FE5B7A8EABE}"/>
                </a:ext>
              </a:extLst>
            </p:cNvPr>
            <p:cNvSpPr txBox="1"/>
            <p:nvPr/>
          </p:nvSpPr>
          <p:spPr>
            <a:xfrm>
              <a:off x="5367528" y="5048263"/>
              <a:ext cx="777240" cy="181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dirty="0">
                  <a:solidFill>
                    <a:prstClr val="black"/>
                  </a:solidFill>
                  <a:latin typeface="Calibri" charset="0"/>
                  <a:ea typeface="Geneva" charset="0"/>
                </a:rPr>
                <a:t>Data Storage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1757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63E4-1C80-9743-ADC0-B9C6CFCD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Format used in TPG blocks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5B56-7131-B14A-B296-EE8611BD0D7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sz="1600" dirty="0"/>
              <a:t>ADC samples are processed in packets</a:t>
            </a:r>
          </a:p>
          <a:p>
            <a:pPr lvl="1"/>
            <a:r>
              <a:rPr lang="en-US" sz="1400" dirty="0"/>
              <a:t>Each packet consists of 64 ADC samples (data frame) and a Header that contains a </a:t>
            </a:r>
            <a:br>
              <a:rPr lang="en-US" sz="1400" dirty="0"/>
            </a:br>
            <a:r>
              <a:rPr lang="en-US" sz="1400" dirty="0"/>
              <a:t>time-stamp, channel no. and flags (Header frame)</a:t>
            </a:r>
          </a:p>
          <a:p>
            <a:pPr lvl="4"/>
            <a:endParaRPr lang="en-US" sz="1000" dirty="0"/>
          </a:p>
          <a:p>
            <a:r>
              <a:rPr lang="en-US" sz="1600" dirty="0"/>
              <a:t>AXI4-Stream protocol after unpacking &amp; reordering of data</a:t>
            </a:r>
            <a:endParaRPr lang="en-US" sz="1100" dirty="0"/>
          </a:p>
          <a:p>
            <a:r>
              <a:rPr lang="en-GB" sz="1600" dirty="0"/>
              <a:t>AXI4-Stream: AMBA protocol designed to transport arbitrary unidirectional data streams</a:t>
            </a:r>
            <a:endParaRPr lang="en-US" sz="1200" dirty="0"/>
          </a:p>
          <a:p>
            <a:pPr lvl="1"/>
            <a:r>
              <a:rPr lang="en-US" sz="1400" dirty="0" err="1"/>
              <a:t>tvalid</a:t>
            </a:r>
            <a:r>
              <a:rPr lang="en-US" sz="1400" dirty="0"/>
              <a:t> denotes valid data on the bus</a:t>
            </a:r>
          </a:p>
          <a:p>
            <a:pPr lvl="1"/>
            <a:r>
              <a:rPr lang="en-US" sz="1400" i="1" dirty="0" err="1"/>
              <a:t>tuser</a:t>
            </a:r>
            <a:r>
              <a:rPr lang="en-US" sz="1400" dirty="0"/>
              <a:t> flag denotes end of each frame, </a:t>
            </a:r>
          </a:p>
          <a:p>
            <a:pPr lvl="1"/>
            <a:r>
              <a:rPr lang="en-US" sz="1400" i="1" dirty="0" err="1"/>
              <a:t>tlast</a:t>
            </a:r>
            <a:r>
              <a:rPr lang="en-US" sz="1400" dirty="0"/>
              <a:t> denotes end of packet</a:t>
            </a:r>
          </a:p>
          <a:p>
            <a:pPr lvl="1"/>
            <a:r>
              <a:rPr lang="en-US" sz="1400" i="1" dirty="0" err="1"/>
              <a:t>tready</a:t>
            </a:r>
            <a:r>
              <a:rPr lang="en-US" sz="1400" dirty="0"/>
              <a:t> used to apply backpressure</a:t>
            </a:r>
          </a:p>
          <a:p>
            <a:pPr lvl="2"/>
            <a:endParaRPr lang="en-US" sz="1400" dirty="0">
              <a:solidFill>
                <a:srgbClr val="5680AB"/>
              </a:solidFill>
            </a:endParaRPr>
          </a:p>
          <a:p>
            <a:pPr lvl="2"/>
            <a:endParaRPr lang="en-US" sz="1400" dirty="0">
              <a:solidFill>
                <a:srgbClr val="5680AB"/>
              </a:solidFill>
            </a:endParaRPr>
          </a:p>
          <a:p>
            <a:pPr lvl="2"/>
            <a:endParaRPr lang="en-US" sz="1400" dirty="0">
              <a:solidFill>
                <a:srgbClr val="5680AB"/>
              </a:solidFill>
            </a:endParaRPr>
          </a:p>
          <a:p>
            <a:pPr lvl="2"/>
            <a:endParaRPr lang="en-US" sz="1400" dirty="0">
              <a:solidFill>
                <a:srgbClr val="5680AB"/>
              </a:solidFill>
            </a:endParaRPr>
          </a:p>
          <a:p>
            <a:pPr lvl="2"/>
            <a:endParaRPr lang="en-US" sz="1400" dirty="0">
              <a:solidFill>
                <a:srgbClr val="5680AB"/>
              </a:solidFill>
            </a:endParaRPr>
          </a:p>
          <a:p>
            <a:pPr lvl="2"/>
            <a:endParaRPr lang="en-US" sz="1400" dirty="0">
              <a:solidFill>
                <a:srgbClr val="5680AB"/>
              </a:solidFill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22F3A-073C-DB4D-9944-44F2D232EA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FD873-F379-0449-B508-1438DE5B1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E682-B3B5-FE46-9AE8-F853034DD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6</a:t>
            </a:fld>
            <a:endParaRPr lang="en-US" dirty="0"/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417761A2-ADBF-2E46-A676-10BFB9B31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027" y="4927998"/>
            <a:ext cx="4256483" cy="1350074"/>
          </a:xfrm>
          <a:prstGeom prst="rect">
            <a:avLst/>
          </a:prstGeom>
        </p:spPr>
      </p:pic>
      <p:pic>
        <p:nvPicPr>
          <p:cNvPr id="9" name="Picture 8" descr="A close up of a keyboard&#10;&#10;Description automatically generated">
            <a:extLst>
              <a:ext uri="{FF2B5EF4-FFF2-40B4-BE49-F238E27FC236}">
                <a16:creationId xmlns:a16="http://schemas.microsoft.com/office/drawing/2014/main" id="{F173E909-BBF1-EF45-89AD-9C9A4CE12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041" y="4927998"/>
            <a:ext cx="35687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E425-B22D-CD4F-A09C-8865DBE9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TPG block - Header Stripper/Combiner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451C-18B6-0D4D-8E10-28A74A387BA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sz="1800" dirty="0"/>
              <a:t>Receives packets from Data Router</a:t>
            </a:r>
          </a:p>
          <a:p>
            <a:pPr lvl="1"/>
            <a:r>
              <a:rPr lang="en-US" sz="1600" dirty="0"/>
              <a:t>Upon arrival of a packet signal DR to hold transmission</a:t>
            </a:r>
          </a:p>
          <a:p>
            <a:r>
              <a:rPr lang="en-US" sz="1800" dirty="0"/>
              <a:t>Strips Header and sends it to the output</a:t>
            </a:r>
          </a:p>
          <a:p>
            <a:r>
              <a:rPr lang="en-US" sz="1800" dirty="0"/>
              <a:t>Sends the 64 ADC values to the processing chain (</a:t>
            </a:r>
            <a:r>
              <a:rPr lang="en-US" sz="1800" dirty="0" err="1"/>
              <a:t>PedSub</a:t>
            </a:r>
            <a:r>
              <a:rPr lang="en-US" sz="1800" dirty="0"/>
              <a:t>, FIR, HF)</a:t>
            </a:r>
          </a:p>
          <a:p>
            <a:r>
              <a:rPr lang="en-US" sz="1800" dirty="0"/>
              <a:t>Receive hits from Hit Finder and forwards them to the output</a:t>
            </a:r>
          </a:p>
          <a:p>
            <a:r>
              <a:rPr lang="en-US" sz="1800" dirty="0"/>
              <a:t>Signals Data Router to send next packet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E145-5478-7842-BD25-198D6660FD9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2035-A896-B545-A677-94C9260AC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BAAED-266F-3248-A845-AA42855B0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7</a:t>
            </a:fld>
            <a:endParaRPr lang="en-US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03E2DED-2BFE-9C4F-9FC1-36A730328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178" y="3873500"/>
            <a:ext cx="4768620" cy="217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8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E425-B22D-CD4F-A09C-8865DBE9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TPG block - Pedestal Subtraction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451C-18B6-0D4D-8E10-28A74A387BA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/>
              <a:t>Firmware implementation based on Phil’s algorithm for Pedestal Subtraction</a:t>
            </a:r>
          </a:p>
          <a:p>
            <a:pPr lvl="3"/>
            <a:endParaRPr lang="en-US" sz="1000" dirty="0"/>
          </a:p>
          <a:p>
            <a:r>
              <a:rPr lang="en-US" sz="2000" dirty="0"/>
              <a:t>Algorithm:</a:t>
            </a:r>
          </a:p>
          <a:p>
            <a:pPr lvl="1"/>
            <a:r>
              <a:rPr lang="en-US" sz="1600" dirty="0"/>
              <a:t>Start with </a:t>
            </a:r>
            <a:r>
              <a:rPr lang="en-US" sz="1600" i="1" dirty="0"/>
              <a:t>accumulator=0</a:t>
            </a:r>
            <a:r>
              <a:rPr lang="en-US" sz="1600" dirty="0"/>
              <a:t> and an estimate of the </a:t>
            </a:r>
            <a:r>
              <a:rPr lang="en-US" sz="1600" i="1" dirty="0"/>
              <a:t>pedestal</a:t>
            </a:r>
          </a:p>
          <a:p>
            <a:pPr lvl="1"/>
            <a:r>
              <a:rPr lang="en-US" sz="1600" dirty="0"/>
              <a:t>If </a:t>
            </a:r>
            <a:r>
              <a:rPr lang="en-US" sz="1600" i="1" dirty="0" err="1"/>
              <a:t>ADCvalue</a:t>
            </a:r>
            <a:r>
              <a:rPr lang="en-US" sz="1600" dirty="0"/>
              <a:t> &gt;(&lt;)</a:t>
            </a:r>
            <a:r>
              <a:rPr lang="en-US" sz="1600" i="1" dirty="0"/>
              <a:t>pedestal</a:t>
            </a:r>
            <a:r>
              <a:rPr lang="en-US" sz="1600" dirty="0"/>
              <a:t> =&gt; </a:t>
            </a:r>
            <a:r>
              <a:rPr lang="en-US" sz="1600" i="1" dirty="0"/>
              <a:t>accumulator</a:t>
            </a:r>
            <a:r>
              <a:rPr lang="en-US" sz="1600" dirty="0"/>
              <a:t> +(-) 1</a:t>
            </a:r>
          </a:p>
          <a:p>
            <a:pPr lvl="1"/>
            <a:r>
              <a:rPr lang="en-US" sz="1600" dirty="0"/>
              <a:t>If </a:t>
            </a:r>
            <a:r>
              <a:rPr lang="en-US" sz="1600" i="1" dirty="0"/>
              <a:t>accumulator</a:t>
            </a:r>
            <a:r>
              <a:rPr lang="en-US" sz="1600" dirty="0"/>
              <a:t> = +(-) 10 =&gt; </a:t>
            </a:r>
            <a:r>
              <a:rPr lang="en-US" sz="1600" i="1" dirty="0"/>
              <a:t>pedestal</a:t>
            </a:r>
            <a:r>
              <a:rPr lang="en-US" sz="1600" dirty="0"/>
              <a:t> +(-) 1 and reset </a:t>
            </a:r>
            <a:r>
              <a:rPr lang="en-US" sz="1600" i="1" dirty="0"/>
              <a:t>accumulator</a:t>
            </a:r>
            <a:r>
              <a:rPr lang="en-US" sz="1600" dirty="0"/>
              <a:t> to 0</a:t>
            </a:r>
          </a:p>
          <a:p>
            <a:pPr lvl="4"/>
            <a:endParaRPr lang="en-US" sz="1000" dirty="0"/>
          </a:p>
          <a:p>
            <a:r>
              <a:rPr lang="en-US" sz="2000" dirty="0"/>
              <a:t>State Save/Restore mechanism</a:t>
            </a:r>
          </a:p>
          <a:p>
            <a:pPr lvl="1"/>
            <a:r>
              <a:rPr lang="en-US" sz="1600" dirty="0"/>
              <a:t>At the end of each packet store the pedestal &amp; accumulator values and retrieve them  when it’s time to process a packet from that same channel again.</a:t>
            </a:r>
          </a:p>
          <a:p>
            <a:pPr lvl="1"/>
            <a:r>
              <a:rPr lang="en-US" sz="1600" dirty="0"/>
              <a:t>Use of distributed RAM to save BRAM resources</a:t>
            </a:r>
          </a:p>
          <a:p>
            <a:pPr lvl="3"/>
            <a:endParaRPr lang="en-US" sz="1200" dirty="0"/>
          </a:p>
          <a:p>
            <a:r>
              <a:rPr lang="en-US" sz="1800" i="1" dirty="0"/>
              <a:t>For validation purposes we currently also send to the output the pedestal and accumulator values at the beginning of each data packet, if that packet produces a hit.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E145-5478-7842-BD25-198D6660FD9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2035-A896-B545-A677-94C9260AC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BAAED-266F-3248-A845-AA42855B0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463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E425-B22D-CD4F-A09C-8865DBE9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TPG block –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451C-18B6-0D4D-8E10-28A74A387BA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sz="1800" dirty="0"/>
              <a:t>Simple low-pass, 32-tap FIR filter    </a:t>
            </a:r>
            <a:endParaRPr lang="en-US" sz="1000" dirty="0">
              <a:highlight>
                <a:srgbClr val="FFFF00"/>
              </a:highlight>
            </a:endParaRPr>
          </a:p>
          <a:p>
            <a:pPr lvl="1"/>
            <a:r>
              <a:rPr lang="en-US" sz="1600" dirty="0"/>
              <a:t>Custom FIR implementation</a:t>
            </a:r>
          </a:p>
          <a:p>
            <a:r>
              <a:rPr lang="en-US" sz="1800" dirty="0"/>
              <a:t>State Save/Restore mechanism</a:t>
            </a:r>
          </a:p>
          <a:p>
            <a:pPr lvl="1"/>
            <a:r>
              <a:rPr lang="en-US" sz="1600" dirty="0"/>
              <a:t>Store the last 32 ADC values of an incoming packet for each channel</a:t>
            </a:r>
          </a:p>
          <a:p>
            <a:pPr lvl="1"/>
            <a:r>
              <a:rPr lang="en-US" sz="1600" dirty="0"/>
              <a:t>Retrieve the values and preload them into the FIR when it’s time to process a new packet from that same channel</a:t>
            </a:r>
          </a:p>
          <a:p>
            <a:pPr lvl="4"/>
            <a:endParaRPr lang="en-US" sz="1000" dirty="0"/>
          </a:p>
          <a:p>
            <a:r>
              <a:rPr lang="en-US" sz="1800" dirty="0"/>
              <a:t>Coefficient set currently hardwired</a:t>
            </a:r>
          </a:p>
          <a:p>
            <a:pPr lvl="1"/>
            <a:r>
              <a:rPr lang="en-US" sz="1600" dirty="0"/>
              <a:t>Can easily be changed to accept </a:t>
            </a:r>
            <a:br>
              <a:rPr lang="en-US" sz="1600" dirty="0"/>
            </a:br>
            <a:r>
              <a:rPr lang="en-US" sz="1600" dirty="0"/>
              <a:t>different sets of coefficients</a:t>
            </a:r>
          </a:p>
          <a:p>
            <a:pPr lvl="1"/>
            <a:endParaRPr lang="en-US" sz="1600" dirty="0"/>
          </a:p>
          <a:p>
            <a:pPr lvl="2"/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E145-5478-7842-BD25-198D6660FD9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2035-A896-B545-A677-94C9260AC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BAAED-266F-3248-A845-AA42855B0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9</a:t>
            </a:fld>
            <a:endParaRPr lang="en-US" dirty="0"/>
          </a:p>
        </p:txBody>
      </p:sp>
      <p:pic>
        <p:nvPicPr>
          <p:cNvPr id="7" name="Content Placeholder 1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3BD6F3F2-839E-A942-8419-8F2DACC62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854" y="3429000"/>
            <a:ext cx="4417772" cy="284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0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E425-B22D-CD4F-A09C-8865DBE9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TPG block - Hit 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451C-18B6-0D4D-8E10-28A74A387BA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Processes pedestal-subtracted &amp; filtered ADC values</a:t>
            </a:r>
          </a:p>
          <a:p>
            <a:pPr lvl="3"/>
            <a:endParaRPr lang="en-US" sz="600" dirty="0"/>
          </a:p>
          <a:p>
            <a:r>
              <a:rPr lang="en-US" sz="1800" dirty="0"/>
              <a:t>A hit starts when 2 consecutive ADC values (</a:t>
            </a:r>
            <a:r>
              <a:rPr lang="en-US" sz="1800" dirty="0" err="1"/>
              <a:t>s</a:t>
            </a:r>
            <a:r>
              <a:rPr lang="en-US" sz="1100" dirty="0" err="1"/>
              <a:t>i</a:t>
            </a:r>
            <a:r>
              <a:rPr lang="en-US" sz="1800" dirty="0"/>
              <a:t>) are above threshold and lasts until the values drop below threshold</a:t>
            </a:r>
          </a:p>
          <a:p>
            <a:pPr lvl="4"/>
            <a:endParaRPr lang="en-US" sz="600" dirty="0"/>
          </a:p>
          <a:p>
            <a:r>
              <a:rPr lang="en-US" sz="1800" dirty="0"/>
              <a:t>Quantities output by Hit Finder:</a:t>
            </a:r>
          </a:p>
          <a:p>
            <a:pPr lvl="1"/>
            <a:r>
              <a:rPr lang="en-US" sz="1600" dirty="0"/>
              <a:t>Start/End time of a hit</a:t>
            </a:r>
          </a:p>
          <a:p>
            <a:pPr lvl="1"/>
            <a:r>
              <a:rPr lang="en-US" sz="1600" dirty="0"/>
              <a:t>Peak time, peak amplitude</a:t>
            </a:r>
          </a:p>
          <a:p>
            <a:pPr lvl="1"/>
            <a:r>
              <a:rPr lang="en-US" sz="1600" dirty="0"/>
              <a:t>Sum of all ADC values above threshold</a:t>
            </a:r>
          </a:p>
          <a:p>
            <a:pPr lvl="1"/>
            <a:r>
              <a:rPr lang="en-US" sz="1600" dirty="0"/>
              <a:t>Detects if a hit expands over end of packet </a:t>
            </a:r>
            <a:br>
              <a:rPr lang="en-US" sz="1600" dirty="0"/>
            </a:br>
            <a:r>
              <a:rPr lang="en-US" sz="1600" dirty="0"/>
              <a:t>and raises a Hit Continue flag</a:t>
            </a:r>
          </a:p>
          <a:p>
            <a:pPr lvl="1"/>
            <a:r>
              <a:rPr lang="en-US" sz="1600" dirty="0"/>
              <a:t>Hit Finder is memory-less (no State S/R)</a:t>
            </a:r>
          </a:p>
          <a:p>
            <a:pPr lvl="4"/>
            <a:endParaRPr lang="en-US" sz="600" dirty="0"/>
          </a:p>
          <a:p>
            <a:r>
              <a:rPr lang="en-US" sz="1800" dirty="0"/>
              <a:t>Threshold can be changed via </a:t>
            </a:r>
            <a:r>
              <a:rPr lang="en-US" sz="1800" dirty="0" err="1"/>
              <a:t>IPBus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E145-5478-7842-BD25-198D6660FD9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US" dirty="0">
                <a:latin typeface="Helvetica"/>
                <a:cs typeface="Helvetica"/>
              </a:rPr>
              <a:t>29/07/2020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2035-A896-B545-A677-94C9260AC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BAAED-266F-3248-A845-AA42855B0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10</a:t>
            </a:fld>
            <a:endParaRPr lang="en-US" dirty="0"/>
          </a:p>
        </p:txBody>
      </p:sp>
      <p:pic>
        <p:nvPicPr>
          <p:cNvPr id="8" name="Picture 7" descr="A close up of a map&#10;&#10;Description automatically generated">
            <a:extLst>
              <a:ext uri="{FF2B5EF4-FFF2-40B4-BE49-F238E27FC236}">
                <a16:creationId xmlns:a16="http://schemas.microsoft.com/office/drawing/2014/main" id="{3BA4FFA8-8D83-B245-B144-6D1390EE2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710" y="2618484"/>
            <a:ext cx="3331494" cy="283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8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E425-B22D-CD4F-A09C-8865DBE9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Arbitrator &amp; CR-interface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451C-18B6-0D4D-8E10-28A74A387BA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Arbitrator</a:t>
            </a:r>
            <a:r>
              <a:rPr lang="en-US" sz="1800" dirty="0"/>
              <a:t>: multiplexes the 4 TPG blocks into a single output</a:t>
            </a:r>
          </a:p>
          <a:p>
            <a:pPr lvl="1"/>
            <a:r>
              <a:rPr lang="en-US" sz="1600" dirty="0"/>
              <a:t>FIFOs used to buffer inputs in case of multiple incoming packets</a:t>
            </a:r>
          </a:p>
          <a:p>
            <a:pPr lvl="1"/>
            <a:r>
              <a:rPr lang="en-US" sz="1600" dirty="0"/>
              <a:t>Waits for end-of-packet signal to output data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1800" b="1" dirty="0"/>
              <a:t>CR-interface</a:t>
            </a:r>
            <a:r>
              <a:rPr lang="en-US" sz="1800" dirty="0"/>
              <a:t>: </a:t>
            </a:r>
            <a:r>
              <a:rPr lang="en-GB" sz="1800" dirty="0"/>
              <a:t>used as interface between Hit Finder and Central Router</a:t>
            </a:r>
          </a:p>
          <a:p>
            <a:pPr marL="285750" indent="-285750"/>
            <a:r>
              <a:rPr lang="en-GB" sz="1800" dirty="0"/>
              <a:t>Consists of 3 main blocks:</a:t>
            </a:r>
            <a:endParaRPr lang="en-US" sz="1800" dirty="0"/>
          </a:p>
          <a:p>
            <a:pPr lvl="1"/>
            <a:r>
              <a:rPr lang="en-GB" sz="1800" dirty="0"/>
              <a:t>FIFO wrapper: prevents </a:t>
            </a:r>
            <a:br>
              <a:rPr lang="en-GB" sz="1800" dirty="0"/>
            </a:br>
            <a:r>
              <a:rPr lang="en-GB" sz="1800" dirty="0"/>
              <a:t>backpressure events</a:t>
            </a:r>
          </a:p>
          <a:p>
            <a:pPr lvl="1"/>
            <a:r>
              <a:rPr lang="en-GB" sz="1800" dirty="0"/>
              <a:t>Hit Packet Filter: filters out hit </a:t>
            </a:r>
            <a:br>
              <a:rPr lang="en-GB" sz="1800" dirty="0"/>
            </a:br>
            <a:r>
              <a:rPr lang="en-GB" sz="1800" dirty="0"/>
              <a:t>empty packets, detects &amp; removes </a:t>
            </a:r>
            <a:br>
              <a:rPr lang="en-GB" sz="1800" dirty="0"/>
            </a:br>
            <a:r>
              <a:rPr lang="en-GB" sz="1800" dirty="0"/>
              <a:t>corrupted hit packets</a:t>
            </a:r>
          </a:p>
          <a:p>
            <a:pPr lvl="1"/>
            <a:r>
              <a:rPr lang="en-GB" sz="1800" dirty="0"/>
              <a:t>CRIF Packer: is the CR-if core and </a:t>
            </a:r>
            <a:br>
              <a:rPr lang="en-GB" sz="1800" dirty="0"/>
            </a:br>
            <a:r>
              <a:rPr lang="en-GB" sz="1800" dirty="0"/>
              <a:t>translates each hit packet into a </a:t>
            </a:r>
            <a:br>
              <a:rPr lang="en-GB" sz="1800" dirty="0"/>
            </a:br>
            <a:r>
              <a:rPr lang="en-GB" sz="1800" dirty="0"/>
              <a:t>CR packet format</a:t>
            </a:r>
            <a:endParaRPr lang="en-US" sz="1800" dirty="0"/>
          </a:p>
          <a:p>
            <a:pPr lvl="1"/>
            <a:endParaRPr lang="en-GB" sz="1800" dirty="0"/>
          </a:p>
          <a:p>
            <a:pPr lvl="1"/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E145-5478-7842-BD25-198D6660FD9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en-GB">
                <a:latin typeface="Helvetica"/>
                <a:cs typeface="Helvetica"/>
              </a:rPr>
              <a:t>29/07/2020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2035-A896-B545-A677-94C9260AC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457200">
              <a:defRPr/>
            </a:pPr>
            <a:r>
              <a:rPr lang="en-GB"/>
              <a:t>Kostas Manolopoulos | Upstream DAQ Firmware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BAAED-266F-3248-A845-AA42855B0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>
              <a:defRPr/>
            </a:pPr>
            <a:fld id="{0C39C72E-2A13-EB4D-AD45-6D4E6ACAED8D}" type="slidenum">
              <a:rPr lang="en-US"/>
              <a:pPr defTabSz="457200">
                <a:defRPr/>
              </a:pPr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7794EE-94C9-8143-B14A-EBAD06561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0" y="3455591"/>
            <a:ext cx="3971926" cy="2526745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975AE7FF-EDBD-D34B-810D-9C4A70316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710" y="819643"/>
            <a:ext cx="1342024" cy="152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48032"/>
      </p:ext>
    </p:extLst>
  </p:cSld>
  <p:clrMapOvr>
    <a:masterClrMapping/>
  </p:clrMapOvr>
</p:sld>
</file>

<file path=ppt/theme/theme1.xml><?xml version="1.0" encoding="utf-8"?>
<a:theme xmlns:a="http://schemas.openxmlformats.org/drawingml/2006/main" name="LBNF Content-Footer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</Words>
  <Application>Microsoft Macintosh PowerPoint</Application>
  <PresentationFormat>Widescreen</PresentationFormat>
  <Paragraphs>127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Helvetica</vt:lpstr>
      <vt:lpstr>Lucida Grande</vt:lpstr>
      <vt:lpstr>LBNF Content-Footer Theme</vt:lpstr>
      <vt:lpstr>Processing framework &amp;  Hit Finder algorithm</vt:lpstr>
      <vt:lpstr>Reminder</vt:lpstr>
      <vt:lpstr>Hit Finder Firmware Architecture</vt:lpstr>
      <vt:lpstr>Data Router</vt:lpstr>
      <vt:lpstr>Data Router</vt:lpstr>
      <vt:lpstr>Data Format used in TPG blocks</vt:lpstr>
      <vt:lpstr>TPG block - Header Stripper/Combiner</vt:lpstr>
      <vt:lpstr>TPG block - Pedestal Subtraction</vt:lpstr>
      <vt:lpstr>TPG block – Filtering</vt:lpstr>
      <vt:lpstr>TPG block - Hit Finder</vt:lpstr>
      <vt:lpstr>Arbitrator &amp; CR-interface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framework &amp;  Hit Finder algorithm</dc:title>
  <dc:creator>Manolopoulos, Konstantinos (STFC,RAL,PPD)</dc:creator>
  <cp:lastModifiedBy>Manolopoulos, Konstantinos (STFC,RAL,PPD)</cp:lastModifiedBy>
  <cp:revision>1</cp:revision>
  <dcterms:created xsi:type="dcterms:W3CDTF">2020-10-20T15:30:32Z</dcterms:created>
  <dcterms:modified xsi:type="dcterms:W3CDTF">2020-10-20T15:31:27Z</dcterms:modified>
</cp:coreProperties>
</file>